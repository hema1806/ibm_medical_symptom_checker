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70" r:id="rId8"/>
    <p:sldId id="263" r:id="rId9"/>
    <p:sldId id="264" r:id="rId10"/>
    <p:sldId id="271" r:id="rId11"/>
    <p:sldId id="275" r:id="rId12"/>
    <p:sldId id="274" r:id="rId13"/>
    <p:sldId id="276" r:id="rId14"/>
    <p:sldId id="277" r:id="rId15"/>
    <p:sldId id="273" r:id="rId16"/>
    <p:sldId id="278" r:id="rId17"/>
    <p:sldId id="279" r:id="rId18"/>
    <p:sldId id="280" r:id="rId19"/>
    <p:sldId id="281" r:id="rId20"/>
    <p:sldId id="282" r:id="rId21"/>
    <p:sldId id="28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7" d="100"/>
          <a:sy n="67" d="100"/>
        </p:scale>
        <p:origin x="57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7/13/2026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7/13/2026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7/13/2026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7/13/2026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7/13/2026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7/13/2026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7/13/2026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F5C76-4BA5-0EFF-0C94-5BC900CEF79D}"/>
              </a:ext>
            </a:extLst>
          </p:cNvPr>
          <p:cNvSpPr>
            <a:spLocks noGrp="1"/>
          </p:cNvSpPr>
          <p:nvPr>
            <p:ph type="ctrTitle"/>
          </p:nvPr>
        </p:nvSpPr>
        <p:spPr>
          <a:xfrm>
            <a:off x="1028700" y="1047751"/>
            <a:ext cx="10429875" cy="2996205"/>
          </a:xfrm>
        </p:spPr>
        <p:txBody>
          <a:bodyPr/>
          <a:lstStyle/>
          <a:p>
            <a:r>
              <a:rPr lang="en-IN" sz="3600" dirty="0"/>
              <a:t>AI-Powered Medical Symptom Checker &amp; First Aid Assistant using IBM </a:t>
            </a:r>
            <a:r>
              <a:rPr lang="en-IN" sz="3600" dirty="0" err="1"/>
              <a:t>watsonx</a:t>
            </a:r>
            <a:r>
              <a:rPr lang="en-IN" sz="3600" dirty="0"/>
              <a:t> Orchestrate</a:t>
            </a:r>
            <a:br>
              <a:rPr lang="en-IN" sz="3400" b="1" dirty="0"/>
            </a:br>
            <a:br>
              <a:rPr lang="en-IN" sz="3400" b="1" dirty="0"/>
            </a:br>
            <a:r>
              <a:rPr lang="en-IN" sz="2800" b="1" dirty="0"/>
              <a:t>IBM </a:t>
            </a:r>
            <a:r>
              <a:rPr lang="en-IN" sz="2800" b="1" dirty="0" err="1"/>
              <a:t>SkillsBuild</a:t>
            </a:r>
            <a:r>
              <a:rPr lang="en-IN" sz="2800" b="1" dirty="0"/>
              <a:t> – University Engagement Program</a:t>
            </a:r>
            <a:br>
              <a:rPr lang="en-IN" dirty="0"/>
            </a:br>
            <a:endParaRPr lang="en-IN" dirty="0"/>
          </a:p>
        </p:txBody>
      </p:sp>
      <p:sp>
        <p:nvSpPr>
          <p:cNvPr id="3" name="Subtitle 2">
            <a:extLst>
              <a:ext uri="{FF2B5EF4-FFF2-40B4-BE49-F238E27FC236}">
                <a16:creationId xmlns:a16="http://schemas.microsoft.com/office/drawing/2014/main" id="{24B70F4D-86B0-5821-62A1-A2AAEFDE18A4}"/>
              </a:ext>
            </a:extLst>
          </p:cNvPr>
          <p:cNvSpPr>
            <a:spLocks noGrp="1"/>
          </p:cNvSpPr>
          <p:nvPr>
            <p:ph type="subTitle" idx="1"/>
          </p:nvPr>
        </p:nvSpPr>
        <p:spPr>
          <a:xfrm>
            <a:off x="1381125" y="3596279"/>
            <a:ext cx="9151938" cy="2585445"/>
          </a:xfrm>
        </p:spPr>
        <p:txBody>
          <a:bodyPr>
            <a:normAutofit fontScale="25000" lnSpcReduction="20000"/>
          </a:bodyPr>
          <a:lstStyle/>
          <a:p>
            <a:r>
              <a:rPr lang="en-IN" sz="11200" b="1" dirty="0"/>
              <a:t>Domain:</a:t>
            </a:r>
            <a:r>
              <a:rPr lang="en-IN" sz="11200" dirty="0"/>
              <a:t> Healthcare</a:t>
            </a:r>
          </a:p>
          <a:p>
            <a:r>
              <a:rPr lang="en-IN" sz="8000" b="1" dirty="0"/>
              <a:t>Submitted By:</a:t>
            </a:r>
            <a:endParaRPr lang="en-IN" sz="8000" dirty="0"/>
          </a:p>
          <a:p>
            <a:r>
              <a:rPr lang="en-IN" sz="8000" dirty="0"/>
              <a:t>Name: N. Hemasri</a:t>
            </a:r>
          </a:p>
          <a:p>
            <a:r>
              <a:rPr lang="en-IN" sz="8000" dirty="0"/>
              <a:t>Roll Number: CB.SC.U4AIE24335</a:t>
            </a:r>
          </a:p>
          <a:p>
            <a:r>
              <a:rPr lang="en-IN" sz="8000" dirty="0"/>
              <a:t>College: Amrita VISHWA VIDHYAPEETHAM</a:t>
            </a:r>
          </a:p>
          <a:p>
            <a:r>
              <a:rPr lang="en-IN" sz="8000" dirty="0"/>
              <a:t>Department: AIML</a:t>
            </a:r>
          </a:p>
          <a:p>
            <a:endParaRPr lang="en-IN" sz="8000" dirty="0"/>
          </a:p>
          <a:p>
            <a:endParaRPr lang="en-IN" dirty="0"/>
          </a:p>
        </p:txBody>
      </p:sp>
    </p:spTree>
    <p:extLst>
      <p:ext uri="{BB962C8B-B14F-4D97-AF65-F5344CB8AC3E}">
        <p14:creationId xmlns:p14="http://schemas.microsoft.com/office/powerpoint/2010/main" val="166572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AA3C6-D517-D3D6-F11A-CFF240C4089F}"/>
              </a:ext>
            </a:extLst>
          </p:cNvPr>
          <p:cNvSpPr>
            <a:spLocks noGrp="1"/>
          </p:cNvSpPr>
          <p:nvPr>
            <p:ph type="title"/>
          </p:nvPr>
        </p:nvSpPr>
        <p:spPr>
          <a:xfrm>
            <a:off x="4298205" y="954618"/>
            <a:ext cx="3093196" cy="706964"/>
          </a:xfrm>
        </p:spPr>
        <p:txBody>
          <a:bodyPr/>
          <a:lstStyle/>
          <a:p>
            <a:r>
              <a:rPr lang="en-IN" dirty="0"/>
              <a:t>Introduction</a:t>
            </a:r>
          </a:p>
        </p:txBody>
      </p:sp>
      <p:sp>
        <p:nvSpPr>
          <p:cNvPr id="3" name="Content Placeholder 2">
            <a:extLst>
              <a:ext uri="{FF2B5EF4-FFF2-40B4-BE49-F238E27FC236}">
                <a16:creationId xmlns:a16="http://schemas.microsoft.com/office/drawing/2014/main" id="{DF4A506D-DFC6-0C02-53B8-F1191956DE74}"/>
              </a:ext>
            </a:extLst>
          </p:cNvPr>
          <p:cNvSpPr>
            <a:spLocks noGrp="1"/>
          </p:cNvSpPr>
          <p:nvPr>
            <p:ph idx="1"/>
          </p:nvPr>
        </p:nvSpPr>
        <p:spPr>
          <a:xfrm>
            <a:off x="2306264" y="3343274"/>
            <a:ext cx="8036671" cy="3228975"/>
          </a:xfrm>
        </p:spPr>
        <p:txBody>
          <a:bodyPr/>
          <a:lstStyle/>
          <a:p>
            <a:r>
              <a:rPr lang="en-IN" dirty="0"/>
              <a:t>Healthcare information should be accessible to everyone. The Medical Symptom Checker is an AI-powered assistant that helps users understand common symptoms, receive first aid guidance, and learn healthy lifestyle practices through conversational AI.</a:t>
            </a:r>
          </a:p>
        </p:txBody>
      </p:sp>
    </p:spTree>
    <p:extLst>
      <p:ext uri="{BB962C8B-B14F-4D97-AF65-F5344CB8AC3E}">
        <p14:creationId xmlns:p14="http://schemas.microsoft.com/office/powerpoint/2010/main" val="976166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0E1EE-AED0-3DF1-2AD9-A27FAA3825BA}"/>
              </a:ext>
            </a:extLst>
          </p:cNvPr>
          <p:cNvSpPr>
            <a:spLocks noGrp="1"/>
          </p:cNvSpPr>
          <p:nvPr>
            <p:ph type="title"/>
          </p:nvPr>
        </p:nvSpPr>
        <p:spPr>
          <a:xfrm>
            <a:off x="3536205" y="838200"/>
            <a:ext cx="4712446" cy="706964"/>
          </a:xfrm>
        </p:spPr>
        <p:txBody>
          <a:bodyPr/>
          <a:lstStyle/>
          <a:p>
            <a:r>
              <a:rPr lang="en-IN" dirty="0"/>
              <a:t>Problem Statement</a:t>
            </a:r>
          </a:p>
        </p:txBody>
      </p:sp>
      <p:sp>
        <p:nvSpPr>
          <p:cNvPr id="3" name="Content Placeholder 2">
            <a:extLst>
              <a:ext uri="{FF2B5EF4-FFF2-40B4-BE49-F238E27FC236}">
                <a16:creationId xmlns:a16="http://schemas.microsoft.com/office/drawing/2014/main" id="{E0DB3B39-CED9-DA1A-B3F9-1CA5DD757B1E}"/>
              </a:ext>
            </a:extLst>
          </p:cNvPr>
          <p:cNvSpPr>
            <a:spLocks noGrp="1"/>
          </p:cNvSpPr>
          <p:nvPr>
            <p:ph idx="1"/>
          </p:nvPr>
        </p:nvSpPr>
        <p:spPr>
          <a:xfrm>
            <a:off x="1926479" y="3098800"/>
            <a:ext cx="8825659" cy="3416300"/>
          </a:xfrm>
        </p:spPr>
        <p:txBody>
          <a:bodyPr/>
          <a:lstStyle/>
          <a:p>
            <a:pPr marL="0" indent="0">
              <a:buNone/>
            </a:pPr>
            <a:r>
              <a:rPr lang="en-IN" dirty="0"/>
              <a:t>Many people cannot immediately consult healthcare professionals for minor health concerns or first aid situations. They require reliable preliminary guidance that helps them understand symptoms and determine whether professional medical attention is required.</a:t>
            </a:r>
          </a:p>
        </p:txBody>
      </p:sp>
    </p:spTree>
    <p:extLst>
      <p:ext uri="{BB962C8B-B14F-4D97-AF65-F5344CB8AC3E}">
        <p14:creationId xmlns:p14="http://schemas.microsoft.com/office/powerpoint/2010/main" val="1925536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A33B-4648-1E40-1031-B3C9F98CFD23}"/>
              </a:ext>
            </a:extLst>
          </p:cNvPr>
          <p:cNvSpPr>
            <a:spLocks noGrp="1"/>
          </p:cNvSpPr>
          <p:nvPr>
            <p:ph type="title"/>
          </p:nvPr>
        </p:nvSpPr>
        <p:spPr>
          <a:xfrm>
            <a:off x="4069604" y="906993"/>
            <a:ext cx="2721721" cy="706964"/>
          </a:xfrm>
        </p:spPr>
        <p:txBody>
          <a:bodyPr/>
          <a:lstStyle/>
          <a:p>
            <a:r>
              <a:rPr lang="en-IN" dirty="0"/>
              <a:t>Objectives</a:t>
            </a:r>
          </a:p>
        </p:txBody>
      </p:sp>
      <p:sp>
        <p:nvSpPr>
          <p:cNvPr id="3" name="Content Placeholder 2">
            <a:extLst>
              <a:ext uri="{FF2B5EF4-FFF2-40B4-BE49-F238E27FC236}">
                <a16:creationId xmlns:a16="http://schemas.microsoft.com/office/drawing/2014/main" id="{AE838E94-3F90-09D2-57AF-FC15C5A1B257}"/>
              </a:ext>
            </a:extLst>
          </p:cNvPr>
          <p:cNvSpPr>
            <a:spLocks noGrp="1"/>
          </p:cNvSpPr>
          <p:nvPr>
            <p:ph idx="1"/>
          </p:nvPr>
        </p:nvSpPr>
        <p:spPr>
          <a:xfrm>
            <a:off x="1383554" y="3127375"/>
            <a:ext cx="9598771" cy="1720850"/>
          </a:xfrm>
        </p:spPr>
        <p:txBody>
          <a:bodyPr/>
          <a:lstStyle/>
          <a:p>
            <a:pPr marL="0" indent="0">
              <a:buNone/>
            </a:pPr>
            <a:r>
              <a:rPr lang="en-IN" dirty="0"/>
              <a:t>Build an AI-powered medical assistant. Guide users regarding common symptoms. Suggest first aid. Promote healthy living. Identify emergency warning signs. Use a knowledge base for medical guidance.</a:t>
            </a:r>
          </a:p>
        </p:txBody>
      </p:sp>
    </p:spTree>
    <p:extLst>
      <p:ext uri="{BB962C8B-B14F-4D97-AF65-F5344CB8AC3E}">
        <p14:creationId xmlns:p14="http://schemas.microsoft.com/office/powerpoint/2010/main" val="1733737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1F566-1174-7FAA-A32F-D9186F10A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CD906-F07B-72DC-F946-A660495E1974}"/>
              </a:ext>
            </a:extLst>
          </p:cNvPr>
          <p:cNvSpPr>
            <a:spLocks noGrp="1"/>
          </p:cNvSpPr>
          <p:nvPr>
            <p:ph type="title"/>
          </p:nvPr>
        </p:nvSpPr>
        <p:spPr>
          <a:xfrm>
            <a:off x="3421110" y="964143"/>
            <a:ext cx="4293346" cy="706964"/>
          </a:xfrm>
        </p:spPr>
        <p:txBody>
          <a:bodyPr/>
          <a:lstStyle/>
          <a:p>
            <a:r>
              <a:rPr lang="en-IN" dirty="0"/>
              <a:t>Proposed Solution</a:t>
            </a:r>
          </a:p>
        </p:txBody>
      </p:sp>
      <p:sp>
        <p:nvSpPr>
          <p:cNvPr id="3" name="Content Placeholder 2">
            <a:extLst>
              <a:ext uri="{FF2B5EF4-FFF2-40B4-BE49-F238E27FC236}">
                <a16:creationId xmlns:a16="http://schemas.microsoft.com/office/drawing/2014/main" id="{F7CF7432-02F2-B75E-520A-829FB9DF3C1E}"/>
              </a:ext>
            </a:extLst>
          </p:cNvPr>
          <p:cNvSpPr>
            <a:spLocks noGrp="1"/>
          </p:cNvSpPr>
          <p:nvPr>
            <p:ph idx="1"/>
          </p:nvPr>
        </p:nvSpPr>
        <p:spPr>
          <a:xfrm>
            <a:off x="1564529" y="2603500"/>
            <a:ext cx="8825659" cy="3416300"/>
          </a:xfrm>
        </p:spPr>
        <p:txBody>
          <a:bodyPr/>
          <a:lstStyle/>
          <a:p>
            <a:r>
              <a:rPr lang="en-IN" dirty="0"/>
              <a:t>The Medical Symptom Checker uses IBM </a:t>
            </a:r>
            <a:r>
              <a:rPr lang="en-IN" dirty="0" err="1"/>
              <a:t>watsonx</a:t>
            </a:r>
            <a:r>
              <a:rPr lang="en-IN" dirty="0"/>
              <a:t> Orchestrate to:</a:t>
            </a:r>
          </a:p>
          <a:p>
            <a:r>
              <a:rPr lang="en-IN" dirty="0"/>
              <a:t>Understand user symptoms. </a:t>
            </a:r>
          </a:p>
          <a:p>
            <a:r>
              <a:rPr lang="en-IN" dirty="0"/>
              <a:t>Retrieve information from a medical knowledge base. </a:t>
            </a:r>
          </a:p>
          <a:p>
            <a:r>
              <a:rPr lang="en-IN" dirty="0"/>
              <a:t>Provide first aid recommendations. </a:t>
            </a:r>
          </a:p>
          <a:p>
            <a:r>
              <a:rPr lang="en-IN" dirty="0"/>
              <a:t>Suggest healthy lifestyle practices. </a:t>
            </a:r>
          </a:p>
          <a:p>
            <a:r>
              <a:rPr lang="en-IN" dirty="0"/>
              <a:t>Encourage consultation with healthcare professionals.</a:t>
            </a:r>
          </a:p>
          <a:p>
            <a:pPr marL="0" indent="0">
              <a:buNone/>
            </a:pPr>
            <a:endParaRPr lang="en-IN" dirty="0"/>
          </a:p>
        </p:txBody>
      </p:sp>
    </p:spTree>
    <p:extLst>
      <p:ext uri="{BB962C8B-B14F-4D97-AF65-F5344CB8AC3E}">
        <p14:creationId xmlns:p14="http://schemas.microsoft.com/office/powerpoint/2010/main" val="1376125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7EEBC-88DE-C01B-1706-E71E770530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57B8E5-9438-EBF8-2FCF-7C5E88C54A89}"/>
              </a:ext>
            </a:extLst>
          </p:cNvPr>
          <p:cNvSpPr>
            <a:spLocks noGrp="1"/>
          </p:cNvSpPr>
          <p:nvPr>
            <p:ph type="title"/>
          </p:nvPr>
        </p:nvSpPr>
        <p:spPr>
          <a:xfrm>
            <a:off x="3402855" y="838200"/>
            <a:ext cx="4540996" cy="706964"/>
          </a:xfrm>
        </p:spPr>
        <p:txBody>
          <a:bodyPr/>
          <a:lstStyle/>
          <a:p>
            <a:r>
              <a:rPr lang="en-IN" dirty="0"/>
              <a:t>Technologies Used</a:t>
            </a:r>
          </a:p>
        </p:txBody>
      </p:sp>
      <p:graphicFrame>
        <p:nvGraphicFramePr>
          <p:cNvPr id="4" name="Content Placeholder 3">
            <a:extLst>
              <a:ext uri="{FF2B5EF4-FFF2-40B4-BE49-F238E27FC236}">
                <a16:creationId xmlns:a16="http://schemas.microsoft.com/office/drawing/2014/main" id="{2ECBA2BE-2FA2-2D49-65F4-75830392BBEC}"/>
              </a:ext>
            </a:extLst>
          </p:cNvPr>
          <p:cNvGraphicFramePr>
            <a:graphicFrameLocks noGrp="1"/>
          </p:cNvGraphicFramePr>
          <p:nvPr>
            <p:ph idx="1"/>
            <p:extLst>
              <p:ext uri="{D42A27DB-BD31-4B8C-83A1-F6EECF244321}">
                <p14:modId xmlns:p14="http://schemas.microsoft.com/office/powerpoint/2010/main" val="1544655633"/>
              </p:ext>
            </p:extLst>
          </p:nvPr>
        </p:nvGraphicFramePr>
        <p:xfrm>
          <a:off x="1825624" y="2964815"/>
          <a:ext cx="8761414" cy="2286000"/>
        </p:xfrm>
        <a:graphic>
          <a:graphicData uri="http://schemas.openxmlformats.org/drawingml/2006/table">
            <a:tbl>
              <a:tblPr>
                <a:tableStyleId>{08FB837D-C827-4EFA-A057-4D05807E0F7C}</a:tableStyleId>
              </a:tblPr>
              <a:tblGrid>
                <a:gridCol w="4380707">
                  <a:extLst>
                    <a:ext uri="{9D8B030D-6E8A-4147-A177-3AD203B41FA5}">
                      <a16:colId xmlns:a16="http://schemas.microsoft.com/office/drawing/2014/main" val="2050884873"/>
                    </a:ext>
                  </a:extLst>
                </a:gridCol>
                <a:gridCol w="4380707">
                  <a:extLst>
                    <a:ext uri="{9D8B030D-6E8A-4147-A177-3AD203B41FA5}">
                      <a16:colId xmlns:a16="http://schemas.microsoft.com/office/drawing/2014/main" val="2060301153"/>
                    </a:ext>
                  </a:extLst>
                </a:gridCol>
              </a:tblGrid>
              <a:tr h="0">
                <a:tc>
                  <a:txBody>
                    <a:bodyPr/>
                    <a:lstStyle/>
                    <a:p>
                      <a:pPr>
                        <a:buNone/>
                      </a:pPr>
                      <a:r>
                        <a:rPr lang="en-IN" sz="2400" b="1" i="0"/>
                        <a:t>Technology</a:t>
                      </a:r>
                    </a:p>
                  </a:txBody>
                  <a:tcPr anchor="ctr"/>
                </a:tc>
                <a:tc>
                  <a:txBody>
                    <a:bodyPr/>
                    <a:lstStyle/>
                    <a:p>
                      <a:pPr>
                        <a:buNone/>
                      </a:pPr>
                      <a:r>
                        <a:rPr lang="en-IN" sz="2400" b="1" i="0" dirty="0"/>
                        <a:t>Purpose</a:t>
                      </a:r>
                    </a:p>
                  </a:txBody>
                  <a:tcPr anchor="ctr"/>
                </a:tc>
                <a:extLst>
                  <a:ext uri="{0D108BD9-81ED-4DB2-BD59-A6C34878D82A}">
                    <a16:rowId xmlns:a16="http://schemas.microsoft.com/office/drawing/2014/main" val="2774979662"/>
                  </a:ext>
                </a:extLst>
              </a:tr>
              <a:tr h="0">
                <a:tc>
                  <a:txBody>
                    <a:bodyPr/>
                    <a:lstStyle/>
                    <a:p>
                      <a:pPr>
                        <a:buNone/>
                      </a:pPr>
                      <a:r>
                        <a:rPr lang="en-IN"/>
                        <a:t>IBM Cloud</a:t>
                      </a:r>
                    </a:p>
                  </a:txBody>
                  <a:tcPr anchor="ctr"/>
                </a:tc>
                <a:tc>
                  <a:txBody>
                    <a:bodyPr/>
                    <a:lstStyle/>
                    <a:p>
                      <a:pPr>
                        <a:buNone/>
                      </a:pPr>
                      <a:r>
                        <a:rPr lang="en-IN"/>
                        <a:t>Cloud Platform</a:t>
                      </a:r>
                    </a:p>
                  </a:txBody>
                  <a:tcPr anchor="ctr"/>
                </a:tc>
                <a:extLst>
                  <a:ext uri="{0D108BD9-81ED-4DB2-BD59-A6C34878D82A}">
                    <a16:rowId xmlns:a16="http://schemas.microsoft.com/office/drawing/2014/main" val="1500997999"/>
                  </a:ext>
                </a:extLst>
              </a:tr>
              <a:tr h="0">
                <a:tc>
                  <a:txBody>
                    <a:bodyPr/>
                    <a:lstStyle/>
                    <a:p>
                      <a:pPr>
                        <a:buNone/>
                      </a:pPr>
                      <a:r>
                        <a:rPr lang="en-IN"/>
                        <a:t>IBM watsonx Orchestrate</a:t>
                      </a:r>
                    </a:p>
                  </a:txBody>
                  <a:tcPr anchor="ctr"/>
                </a:tc>
                <a:tc>
                  <a:txBody>
                    <a:bodyPr/>
                    <a:lstStyle/>
                    <a:p>
                      <a:pPr>
                        <a:buNone/>
                      </a:pPr>
                      <a:r>
                        <a:rPr lang="en-IN" dirty="0"/>
                        <a:t>AI Agent Development</a:t>
                      </a:r>
                    </a:p>
                  </a:txBody>
                  <a:tcPr anchor="ctr"/>
                </a:tc>
                <a:extLst>
                  <a:ext uri="{0D108BD9-81ED-4DB2-BD59-A6C34878D82A}">
                    <a16:rowId xmlns:a16="http://schemas.microsoft.com/office/drawing/2014/main" val="3519068325"/>
                  </a:ext>
                </a:extLst>
              </a:tr>
              <a:tr h="128905">
                <a:tc>
                  <a:txBody>
                    <a:bodyPr/>
                    <a:lstStyle/>
                    <a:p>
                      <a:pPr>
                        <a:buNone/>
                      </a:pPr>
                      <a:r>
                        <a:rPr lang="en-IN"/>
                        <a:t>GPT Foundation Model</a:t>
                      </a:r>
                    </a:p>
                  </a:txBody>
                  <a:tcPr anchor="ctr"/>
                </a:tc>
                <a:tc>
                  <a:txBody>
                    <a:bodyPr/>
                    <a:lstStyle/>
                    <a:p>
                      <a:pPr>
                        <a:buNone/>
                      </a:pPr>
                      <a:r>
                        <a:rPr lang="en-IN"/>
                        <a:t>Natural Language Processing</a:t>
                      </a:r>
                    </a:p>
                  </a:txBody>
                  <a:tcPr anchor="ctr"/>
                </a:tc>
                <a:extLst>
                  <a:ext uri="{0D108BD9-81ED-4DB2-BD59-A6C34878D82A}">
                    <a16:rowId xmlns:a16="http://schemas.microsoft.com/office/drawing/2014/main" val="3951507749"/>
                  </a:ext>
                </a:extLst>
              </a:tr>
              <a:tr h="0">
                <a:tc>
                  <a:txBody>
                    <a:bodyPr/>
                    <a:lstStyle/>
                    <a:p>
                      <a:pPr>
                        <a:buNone/>
                      </a:pPr>
                      <a:r>
                        <a:rPr lang="en-IN"/>
                        <a:t>Knowledge Base</a:t>
                      </a:r>
                    </a:p>
                  </a:txBody>
                  <a:tcPr anchor="ctr"/>
                </a:tc>
                <a:tc>
                  <a:txBody>
                    <a:bodyPr/>
                    <a:lstStyle/>
                    <a:p>
                      <a:pPr>
                        <a:buNone/>
                      </a:pPr>
                      <a:r>
                        <a:rPr lang="en-IN" dirty="0"/>
                        <a:t>Medical Information</a:t>
                      </a:r>
                    </a:p>
                  </a:txBody>
                  <a:tcPr anchor="ctr"/>
                </a:tc>
                <a:extLst>
                  <a:ext uri="{0D108BD9-81ED-4DB2-BD59-A6C34878D82A}">
                    <a16:rowId xmlns:a16="http://schemas.microsoft.com/office/drawing/2014/main" val="2822599059"/>
                  </a:ext>
                </a:extLst>
              </a:tr>
              <a:tr h="0">
                <a:tc>
                  <a:txBody>
                    <a:bodyPr/>
                    <a:lstStyle/>
                    <a:p>
                      <a:pPr>
                        <a:buNone/>
                      </a:pPr>
                      <a:r>
                        <a:rPr lang="en-IN" dirty="0"/>
                        <a:t>AI Agent Builder</a:t>
                      </a:r>
                    </a:p>
                  </a:txBody>
                  <a:tcPr anchor="ctr"/>
                </a:tc>
                <a:tc>
                  <a:txBody>
                    <a:bodyPr/>
                    <a:lstStyle/>
                    <a:p>
                      <a:pPr>
                        <a:buNone/>
                      </a:pPr>
                      <a:r>
                        <a:rPr lang="en-IN" dirty="0"/>
                        <a:t>Agent Configuration</a:t>
                      </a:r>
                    </a:p>
                  </a:txBody>
                  <a:tcPr anchor="ctr"/>
                </a:tc>
                <a:extLst>
                  <a:ext uri="{0D108BD9-81ED-4DB2-BD59-A6C34878D82A}">
                    <a16:rowId xmlns:a16="http://schemas.microsoft.com/office/drawing/2014/main" val="403094758"/>
                  </a:ext>
                </a:extLst>
              </a:tr>
            </a:tbl>
          </a:graphicData>
        </a:graphic>
      </p:graphicFrame>
    </p:spTree>
    <p:extLst>
      <p:ext uri="{BB962C8B-B14F-4D97-AF65-F5344CB8AC3E}">
        <p14:creationId xmlns:p14="http://schemas.microsoft.com/office/powerpoint/2010/main" val="1581717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B45BF-A405-8036-8A1E-F2A5C45BDE9D}"/>
              </a:ext>
            </a:extLst>
          </p:cNvPr>
          <p:cNvSpPr>
            <a:spLocks noGrp="1"/>
          </p:cNvSpPr>
          <p:nvPr>
            <p:ph type="title"/>
          </p:nvPr>
        </p:nvSpPr>
        <p:spPr>
          <a:xfrm>
            <a:off x="3412379" y="916518"/>
            <a:ext cx="4645771" cy="706964"/>
          </a:xfrm>
        </p:spPr>
        <p:txBody>
          <a:bodyPr/>
          <a:lstStyle/>
          <a:p>
            <a:r>
              <a:rPr lang="en-IN" dirty="0"/>
              <a:t>System Architecture</a:t>
            </a:r>
          </a:p>
        </p:txBody>
      </p:sp>
      <p:pic>
        <p:nvPicPr>
          <p:cNvPr id="5" name="Picture 4">
            <a:extLst>
              <a:ext uri="{FF2B5EF4-FFF2-40B4-BE49-F238E27FC236}">
                <a16:creationId xmlns:a16="http://schemas.microsoft.com/office/drawing/2014/main" id="{D05078B0-7867-423E-5698-3223BD64BD93}"/>
              </a:ext>
            </a:extLst>
          </p:cNvPr>
          <p:cNvPicPr>
            <a:picLocks noChangeAspect="1"/>
          </p:cNvPicPr>
          <p:nvPr/>
        </p:nvPicPr>
        <p:blipFill>
          <a:blip r:embed="rId2"/>
          <a:stretch>
            <a:fillRect/>
          </a:stretch>
        </p:blipFill>
        <p:spPr>
          <a:xfrm>
            <a:off x="4435423" y="2381190"/>
            <a:ext cx="3503378" cy="4057710"/>
          </a:xfrm>
          <a:prstGeom prst="rect">
            <a:avLst/>
          </a:prstGeom>
        </p:spPr>
      </p:pic>
    </p:spTree>
    <p:extLst>
      <p:ext uri="{BB962C8B-B14F-4D97-AF65-F5344CB8AC3E}">
        <p14:creationId xmlns:p14="http://schemas.microsoft.com/office/powerpoint/2010/main" val="3303704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868DF-1FC1-E915-ED2E-15CCEA1F0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9FC83-488E-4882-1911-3C52F4D75D19}"/>
              </a:ext>
            </a:extLst>
          </p:cNvPr>
          <p:cNvSpPr>
            <a:spLocks noGrp="1"/>
          </p:cNvSpPr>
          <p:nvPr>
            <p:ph type="title"/>
          </p:nvPr>
        </p:nvSpPr>
        <p:spPr>
          <a:xfrm>
            <a:off x="4717304" y="838200"/>
            <a:ext cx="2455021" cy="706964"/>
          </a:xfrm>
        </p:spPr>
        <p:txBody>
          <a:bodyPr/>
          <a:lstStyle/>
          <a:p>
            <a:r>
              <a:rPr lang="en-IN" dirty="0"/>
              <a:t>Workflow</a:t>
            </a:r>
          </a:p>
        </p:txBody>
      </p:sp>
      <p:sp>
        <p:nvSpPr>
          <p:cNvPr id="3" name="Content Placeholder 2">
            <a:extLst>
              <a:ext uri="{FF2B5EF4-FFF2-40B4-BE49-F238E27FC236}">
                <a16:creationId xmlns:a16="http://schemas.microsoft.com/office/drawing/2014/main" id="{74E7EDB2-3616-8D16-8FAD-CA8EBFF31C4A}"/>
              </a:ext>
            </a:extLst>
          </p:cNvPr>
          <p:cNvSpPr>
            <a:spLocks noGrp="1"/>
          </p:cNvSpPr>
          <p:nvPr>
            <p:ph idx="1"/>
          </p:nvPr>
        </p:nvSpPr>
        <p:spPr>
          <a:xfrm>
            <a:off x="2593229" y="2774950"/>
            <a:ext cx="8825659" cy="3416300"/>
          </a:xfrm>
        </p:spPr>
        <p:txBody>
          <a:bodyPr>
            <a:normAutofit fontScale="62500" lnSpcReduction="20000"/>
          </a:bodyPr>
          <a:lstStyle/>
          <a:p>
            <a:r>
              <a:rPr lang="en-IN" dirty="0"/>
              <a:t>User</a:t>
            </a:r>
          </a:p>
          <a:p>
            <a:r>
              <a:rPr lang="en-IN" dirty="0"/>
              <a:t> ↓</a:t>
            </a:r>
          </a:p>
          <a:p>
            <a:r>
              <a:rPr lang="en-IN" dirty="0"/>
              <a:t>Medical Symptom Checker</a:t>
            </a:r>
          </a:p>
          <a:p>
            <a:r>
              <a:rPr lang="en-IN" dirty="0"/>
              <a:t> ↓</a:t>
            </a:r>
          </a:p>
          <a:p>
            <a:r>
              <a:rPr lang="en-IN" dirty="0"/>
              <a:t>Collect Symptom Information</a:t>
            </a:r>
          </a:p>
          <a:p>
            <a:r>
              <a:rPr lang="en-IN" dirty="0"/>
              <a:t> ↓</a:t>
            </a:r>
          </a:p>
          <a:p>
            <a:r>
              <a:rPr lang="en-IN" dirty="0"/>
              <a:t>Knowledge Base</a:t>
            </a:r>
          </a:p>
          <a:p>
            <a:r>
              <a:rPr lang="en-IN" dirty="0"/>
              <a:t> ↓</a:t>
            </a:r>
          </a:p>
          <a:p>
            <a:r>
              <a:rPr lang="en-IN" dirty="0"/>
              <a:t>IBM Foundation Model</a:t>
            </a:r>
          </a:p>
          <a:p>
            <a:r>
              <a:rPr lang="en-IN" dirty="0"/>
              <a:t> ↓</a:t>
            </a:r>
          </a:p>
          <a:p>
            <a:r>
              <a:rPr lang="en-IN" dirty="0"/>
              <a:t>General Health Guidance</a:t>
            </a:r>
          </a:p>
          <a:p>
            <a:r>
              <a:rPr lang="en-IN" dirty="0"/>
              <a:t> ↓</a:t>
            </a:r>
          </a:p>
          <a:p>
            <a:r>
              <a:rPr lang="en-IN" dirty="0"/>
              <a:t>User</a:t>
            </a:r>
          </a:p>
        </p:txBody>
      </p:sp>
    </p:spTree>
    <p:extLst>
      <p:ext uri="{BB962C8B-B14F-4D97-AF65-F5344CB8AC3E}">
        <p14:creationId xmlns:p14="http://schemas.microsoft.com/office/powerpoint/2010/main" val="387368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65B09-34F3-0892-42EE-EC4DA3CE6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655B05-F66B-E727-3BCB-74A641946210}"/>
              </a:ext>
            </a:extLst>
          </p:cNvPr>
          <p:cNvSpPr>
            <a:spLocks noGrp="1"/>
          </p:cNvSpPr>
          <p:nvPr>
            <p:ph type="title"/>
          </p:nvPr>
        </p:nvSpPr>
        <p:spPr>
          <a:xfrm>
            <a:off x="3483022" y="838200"/>
            <a:ext cx="4169521" cy="706964"/>
          </a:xfrm>
        </p:spPr>
        <p:txBody>
          <a:bodyPr/>
          <a:lstStyle/>
          <a:p>
            <a:r>
              <a:rPr lang="en-IN" dirty="0"/>
              <a:t>Knowledge Base</a:t>
            </a:r>
          </a:p>
        </p:txBody>
      </p:sp>
      <p:sp>
        <p:nvSpPr>
          <p:cNvPr id="3" name="Content Placeholder 2">
            <a:extLst>
              <a:ext uri="{FF2B5EF4-FFF2-40B4-BE49-F238E27FC236}">
                <a16:creationId xmlns:a16="http://schemas.microsoft.com/office/drawing/2014/main" id="{DB9AD97F-9B10-37BF-2DFB-BB1F4AFC393C}"/>
              </a:ext>
            </a:extLst>
          </p:cNvPr>
          <p:cNvSpPr>
            <a:spLocks noGrp="1"/>
          </p:cNvSpPr>
          <p:nvPr>
            <p:ph idx="1"/>
          </p:nvPr>
        </p:nvSpPr>
        <p:spPr>
          <a:xfrm>
            <a:off x="1082722" y="3057524"/>
            <a:ext cx="6569821" cy="3286125"/>
          </a:xfrm>
        </p:spPr>
        <p:txBody>
          <a:bodyPr/>
          <a:lstStyle/>
          <a:p>
            <a:r>
              <a:rPr lang="en-IN" dirty="0"/>
              <a:t>Uploaded documents:</a:t>
            </a:r>
          </a:p>
          <a:p>
            <a:r>
              <a:rPr lang="en-IN" dirty="0"/>
              <a:t>Common Symptoms Guide </a:t>
            </a:r>
          </a:p>
          <a:p>
            <a:r>
              <a:rPr lang="en-IN" dirty="0"/>
              <a:t>First Aid Guide </a:t>
            </a:r>
          </a:p>
          <a:p>
            <a:r>
              <a:rPr lang="en-IN" dirty="0"/>
              <a:t>Emergency Warning Signs </a:t>
            </a:r>
          </a:p>
          <a:p>
            <a:r>
              <a:rPr lang="en-IN" dirty="0"/>
              <a:t>Healthy Lifestyle Guide</a:t>
            </a:r>
          </a:p>
          <a:p>
            <a:pPr marL="0" indent="0">
              <a:buNone/>
            </a:pPr>
            <a:endParaRPr lang="en-IN" dirty="0"/>
          </a:p>
        </p:txBody>
      </p:sp>
      <p:pic>
        <p:nvPicPr>
          <p:cNvPr id="6" name="Picture 5">
            <a:extLst>
              <a:ext uri="{FF2B5EF4-FFF2-40B4-BE49-F238E27FC236}">
                <a16:creationId xmlns:a16="http://schemas.microsoft.com/office/drawing/2014/main" id="{63B3516F-FCC7-245B-C6D5-4E4CFCEA62BD}"/>
              </a:ext>
            </a:extLst>
          </p:cNvPr>
          <p:cNvPicPr>
            <a:picLocks noChangeAspect="1"/>
          </p:cNvPicPr>
          <p:nvPr/>
        </p:nvPicPr>
        <p:blipFill>
          <a:blip r:embed="rId2"/>
          <a:stretch>
            <a:fillRect/>
          </a:stretch>
        </p:blipFill>
        <p:spPr>
          <a:xfrm>
            <a:off x="6330823" y="2565205"/>
            <a:ext cx="4940554" cy="3778444"/>
          </a:xfrm>
          <a:prstGeom prst="rect">
            <a:avLst/>
          </a:prstGeom>
        </p:spPr>
      </p:pic>
    </p:spTree>
    <p:extLst>
      <p:ext uri="{BB962C8B-B14F-4D97-AF65-F5344CB8AC3E}">
        <p14:creationId xmlns:p14="http://schemas.microsoft.com/office/powerpoint/2010/main" val="25748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1AF57-7410-B961-93DB-44E5D5167BF4}"/>
              </a:ext>
            </a:extLst>
          </p:cNvPr>
          <p:cNvSpPr>
            <a:spLocks noGrp="1"/>
          </p:cNvSpPr>
          <p:nvPr>
            <p:ph type="title"/>
          </p:nvPr>
        </p:nvSpPr>
        <p:spPr>
          <a:xfrm>
            <a:off x="3625477" y="868893"/>
            <a:ext cx="4941046" cy="706964"/>
          </a:xfrm>
        </p:spPr>
        <p:txBody>
          <a:bodyPr/>
          <a:lstStyle/>
          <a:p>
            <a:r>
              <a:rPr lang="en-IN" dirty="0"/>
              <a:t>Agent Configuration</a:t>
            </a:r>
          </a:p>
        </p:txBody>
      </p:sp>
      <p:pic>
        <p:nvPicPr>
          <p:cNvPr id="5" name="Picture 4">
            <a:extLst>
              <a:ext uri="{FF2B5EF4-FFF2-40B4-BE49-F238E27FC236}">
                <a16:creationId xmlns:a16="http://schemas.microsoft.com/office/drawing/2014/main" id="{217A9A83-29AC-9D4D-4806-5328FE7B7EF2}"/>
              </a:ext>
            </a:extLst>
          </p:cNvPr>
          <p:cNvPicPr>
            <a:picLocks noChangeAspect="1"/>
          </p:cNvPicPr>
          <p:nvPr/>
        </p:nvPicPr>
        <p:blipFill>
          <a:blip r:embed="rId2"/>
          <a:stretch>
            <a:fillRect/>
          </a:stretch>
        </p:blipFill>
        <p:spPr>
          <a:xfrm>
            <a:off x="472940" y="2877447"/>
            <a:ext cx="5226319" cy="3111660"/>
          </a:xfrm>
          <a:prstGeom prst="rect">
            <a:avLst/>
          </a:prstGeom>
        </p:spPr>
      </p:pic>
      <p:pic>
        <p:nvPicPr>
          <p:cNvPr id="8" name="Picture 7">
            <a:extLst>
              <a:ext uri="{FF2B5EF4-FFF2-40B4-BE49-F238E27FC236}">
                <a16:creationId xmlns:a16="http://schemas.microsoft.com/office/drawing/2014/main" id="{8024B065-48C4-17DB-EFDB-D9D587DA42A6}"/>
              </a:ext>
            </a:extLst>
          </p:cNvPr>
          <p:cNvPicPr>
            <a:picLocks noChangeAspect="1"/>
          </p:cNvPicPr>
          <p:nvPr/>
        </p:nvPicPr>
        <p:blipFill>
          <a:blip r:embed="rId3"/>
          <a:stretch>
            <a:fillRect/>
          </a:stretch>
        </p:blipFill>
        <p:spPr>
          <a:xfrm>
            <a:off x="6333996" y="2695480"/>
            <a:ext cx="5029458" cy="3695890"/>
          </a:xfrm>
          <a:prstGeom prst="rect">
            <a:avLst/>
          </a:prstGeom>
        </p:spPr>
      </p:pic>
    </p:spTree>
    <p:extLst>
      <p:ext uri="{BB962C8B-B14F-4D97-AF65-F5344CB8AC3E}">
        <p14:creationId xmlns:p14="http://schemas.microsoft.com/office/powerpoint/2010/main" val="3200835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7EC56-1D10-4089-EAA6-FA0700230F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04B0F-6C9D-79FC-A5A1-12027A7988AC}"/>
              </a:ext>
            </a:extLst>
          </p:cNvPr>
          <p:cNvSpPr>
            <a:spLocks noGrp="1"/>
          </p:cNvSpPr>
          <p:nvPr>
            <p:ph type="title"/>
          </p:nvPr>
        </p:nvSpPr>
        <p:spPr>
          <a:xfrm>
            <a:off x="4641104" y="1030818"/>
            <a:ext cx="1826371" cy="706964"/>
          </a:xfrm>
        </p:spPr>
        <p:txBody>
          <a:bodyPr/>
          <a:lstStyle/>
          <a:p>
            <a:r>
              <a:rPr lang="en-IN" dirty="0"/>
              <a:t>Testing</a:t>
            </a:r>
          </a:p>
        </p:txBody>
      </p:sp>
      <p:pic>
        <p:nvPicPr>
          <p:cNvPr id="4" name="Picture 3">
            <a:extLst>
              <a:ext uri="{FF2B5EF4-FFF2-40B4-BE49-F238E27FC236}">
                <a16:creationId xmlns:a16="http://schemas.microsoft.com/office/drawing/2014/main" id="{F3493CBC-F04F-03C8-61E2-EE5E02C1216A}"/>
              </a:ext>
            </a:extLst>
          </p:cNvPr>
          <p:cNvPicPr>
            <a:picLocks noChangeAspect="1"/>
          </p:cNvPicPr>
          <p:nvPr/>
        </p:nvPicPr>
        <p:blipFill>
          <a:blip r:embed="rId2"/>
          <a:stretch>
            <a:fillRect/>
          </a:stretch>
        </p:blipFill>
        <p:spPr>
          <a:xfrm>
            <a:off x="1123828" y="2749456"/>
            <a:ext cx="4743694" cy="3645087"/>
          </a:xfrm>
          <a:prstGeom prst="rect">
            <a:avLst/>
          </a:prstGeom>
        </p:spPr>
      </p:pic>
      <p:pic>
        <p:nvPicPr>
          <p:cNvPr id="6" name="Picture 5">
            <a:extLst>
              <a:ext uri="{FF2B5EF4-FFF2-40B4-BE49-F238E27FC236}">
                <a16:creationId xmlns:a16="http://schemas.microsoft.com/office/drawing/2014/main" id="{30A800B4-066E-E183-16C3-79FC17E23000}"/>
              </a:ext>
            </a:extLst>
          </p:cNvPr>
          <p:cNvPicPr>
            <a:picLocks noChangeAspect="1"/>
          </p:cNvPicPr>
          <p:nvPr/>
        </p:nvPicPr>
        <p:blipFill>
          <a:blip r:embed="rId3"/>
          <a:stretch>
            <a:fillRect/>
          </a:stretch>
        </p:blipFill>
        <p:spPr>
          <a:xfrm>
            <a:off x="6553077" y="2774857"/>
            <a:ext cx="4762745" cy="3619686"/>
          </a:xfrm>
          <a:prstGeom prst="rect">
            <a:avLst/>
          </a:prstGeom>
        </p:spPr>
      </p:pic>
    </p:spTree>
    <p:extLst>
      <p:ext uri="{BB962C8B-B14F-4D97-AF65-F5344CB8AC3E}">
        <p14:creationId xmlns:p14="http://schemas.microsoft.com/office/powerpoint/2010/main" val="2673555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EE038-F57A-28C8-0A01-3F3354FA6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64C39-90FB-021E-F823-FBB358324371}"/>
              </a:ext>
            </a:extLst>
          </p:cNvPr>
          <p:cNvSpPr>
            <a:spLocks noGrp="1"/>
          </p:cNvSpPr>
          <p:nvPr>
            <p:ph type="title"/>
          </p:nvPr>
        </p:nvSpPr>
        <p:spPr>
          <a:xfrm>
            <a:off x="4984005" y="916518"/>
            <a:ext cx="1740646" cy="706964"/>
          </a:xfrm>
        </p:spPr>
        <p:txBody>
          <a:bodyPr/>
          <a:lstStyle/>
          <a:p>
            <a:r>
              <a:rPr lang="en-IN" dirty="0"/>
              <a:t>Results</a:t>
            </a:r>
          </a:p>
        </p:txBody>
      </p:sp>
      <p:pic>
        <p:nvPicPr>
          <p:cNvPr id="5" name="Picture 4">
            <a:extLst>
              <a:ext uri="{FF2B5EF4-FFF2-40B4-BE49-F238E27FC236}">
                <a16:creationId xmlns:a16="http://schemas.microsoft.com/office/drawing/2014/main" id="{8F163FEF-0F04-8625-13CB-573AC03EFD0B}"/>
              </a:ext>
            </a:extLst>
          </p:cNvPr>
          <p:cNvPicPr>
            <a:picLocks noChangeAspect="1"/>
          </p:cNvPicPr>
          <p:nvPr/>
        </p:nvPicPr>
        <p:blipFill>
          <a:blip r:embed="rId2"/>
          <a:stretch>
            <a:fillRect/>
          </a:stretch>
        </p:blipFill>
        <p:spPr>
          <a:xfrm>
            <a:off x="1891989" y="2376152"/>
            <a:ext cx="8585511" cy="4234198"/>
          </a:xfrm>
          <a:prstGeom prst="rect">
            <a:avLst/>
          </a:prstGeom>
        </p:spPr>
      </p:pic>
    </p:spTree>
    <p:extLst>
      <p:ext uri="{BB962C8B-B14F-4D97-AF65-F5344CB8AC3E}">
        <p14:creationId xmlns:p14="http://schemas.microsoft.com/office/powerpoint/2010/main" val="983995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41D7F-33BB-6D11-4CB7-56974AE29D5E}"/>
              </a:ext>
            </a:extLst>
          </p:cNvPr>
          <p:cNvSpPr>
            <a:spLocks noGrp="1"/>
          </p:cNvSpPr>
          <p:nvPr>
            <p:ph type="title"/>
          </p:nvPr>
        </p:nvSpPr>
        <p:spPr>
          <a:xfrm>
            <a:off x="4611313" y="1009650"/>
            <a:ext cx="2969371" cy="706964"/>
          </a:xfrm>
        </p:spPr>
        <p:txBody>
          <a:bodyPr/>
          <a:lstStyle/>
          <a:p>
            <a:r>
              <a:rPr lang="en-IN" dirty="0"/>
              <a:t>Novelty</a:t>
            </a:r>
          </a:p>
        </p:txBody>
      </p:sp>
      <p:sp>
        <p:nvSpPr>
          <p:cNvPr id="3" name="Content Placeholder 2">
            <a:extLst>
              <a:ext uri="{FF2B5EF4-FFF2-40B4-BE49-F238E27FC236}">
                <a16:creationId xmlns:a16="http://schemas.microsoft.com/office/drawing/2014/main" id="{0D533C19-AF21-58E1-2B1D-D78151E27AD3}"/>
              </a:ext>
            </a:extLst>
          </p:cNvPr>
          <p:cNvSpPr>
            <a:spLocks noGrp="1"/>
          </p:cNvSpPr>
          <p:nvPr>
            <p:ph idx="1"/>
          </p:nvPr>
        </p:nvSpPr>
        <p:spPr>
          <a:xfrm>
            <a:off x="1968921" y="3059639"/>
            <a:ext cx="8746704" cy="933450"/>
          </a:xfrm>
        </p:spPr>
        <p:txBody>
          <a:bodyPr/>
          <a:lstStyle/>
          <a:p>
            <a:pPr marL="0" indent="0">
              <a:buNone/>
            </a:pPr>
            <a:r>
              <a:rPr lang="en-IN" dirty="0"/>
              <a:t>AI-powered health guidance. Knowledge-based responses. Emergency awareness. Easy conversational interface. Preventive healthcare focus.</a:t>
            </a:r>
          </a:p>
        </p:txBody>
      </p:sp>
    </p:spTree>
    <p:extLst>
      <p:ext uri="{BB962C8B-B14F-4D97-AF65-F5344CB8AC3E}">
        <p14:creationId xmlns:p14="http://schemas.microsoft.com/office/powerpoint/2010/main" val="176892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311E5-46AB-FFC2-BD3B-15CAE487128E}"/>
              </a:ext>
            </a:extLst>
          </p:cNvPr>
          <p:cNvSpPr>
            <a:spLocks noGrp="1"/>
          </p:cNvSpPr>
          <p:nvPr>
            <p:ph type="title"/>
          </p:nvPr>
        </p:nvSpPr>
        <p:spPr>
          <a:xfrm>
            <a:off x="3821954" y="742950"/>
            <a:ext cx="3178921" cy="1257300"/>
          </a:xfrm>
        </p:spPr>
        <p:txBody>
          <a:bodyPr/>
          <a:lstStyle/>
          <a:p>
            <a:r>
              <a:rPr lang="en-IN" b="1" dirty="0"/>
              <a:t>Future Scope</a:t>
            </a:r>
            <a:br>
              <a:rPr lang="en-IN" b="1" dirty="0"/>
            </a:br>
            <a:endParaRPr lang="en-IN" dirty="0"/>
          </a:p>
        </p:txBody>
      </p:sp>
      <p:sp>
        <p:nvSpPr>
          <p:cNvPr id="3" name="Content Placeholder 2">
            <a:extLst>
              <a:ext uri="{FF2B5EF4-FFF2-40B4-BE49-F238E27FC236}">
                <a16:creationId xmlns:a16="http://schemas.microsoft.com/office/drawing/2014/main" id="{01D18FE9-93AA-EAEF-E70F-78100CE7C8AD}"/>
              </a:ext>
            </a:extLst>
          </p:cNvPr>
          <p:cNvSpPr>
            <a:spLocks noGrp="1"/>
          </p:cNvSpPr>
          <p:nvPr>
            <p:ph idx="1"/>
          </p:nvPr>
        </p:nvSpPr>
        <p:spPr>
          <a:xfrm>
            <a:off x="2222968" y="3429000"/>
            <a:ext cx="7655671" cy="1257300"/>
          </a:xfrm>
        </p:spPr>
        <p:txBody>
          <a:bodyPr/>
          <a:lstStyle/>
          <a:p>
            <a:r>
              <a:rPr lang="en-IN" dirty="0"/>
              <a:t>Hospital integration. Wearable device connectivity. Voice assistant. Medical image analysis. Multilingual support. Appointment booking.</a:t>
            </a:r>
          </a:p>
        </p:txBody>
      </p:sp>
    </p:spTree>
    <p:extLst>
      <p:ext uri="{BB962C8B-B14F-4D97-AF65-F5344CB8AC3E}">
        <p14:creationId xmlns:p14="http://schemas.microsoft.com/office/powerpoint/2010/main" val="3987153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1B68C-CAC6-FBBC-35B4-593A673BB6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96CCDD6-9DCD-39FF-5BE6-1C4EF7AE4CB8}"/>
              </a:ext>
            </a:extLst>
          </p:cNvPr>
          <p:cNvSpPr>
            <a:spLocks noGrp="1"/>
          </p:cNvSpPr>
          <p:nvPr>
            <p:ph type="title"/>
          </p:nvPr>
        </p:nvSpPr>
        <p:spPr>
          <a:xfrm>
            <a:off x="3355230" y="906993"/>
            <a:ext cx="4312396" cy="706964"/>
          </a:xfrm>
        </p:spPr>
        <p:txBody>
          <a:bodyPr/>
          <a:lstStyle/>
          <a:p>
            <a:r>
              <a:rPr lang="en-IN" dirty="0"/>
              <a:t>GitHub Repository</a:t>
            </a:r>
          </a:p>
        </p:txBody>
      </p:sp>
      <p:sp>
        <p:nvSpPr>
          <p:cNvPr id="6" name="TextBox 5">
            <a:extLst>
              <a:ext uri="{FF2B5EF4-FFF2-40B4-BE49-F238E27FC236}">
                <a16:creationId xmlns:a16="http://schemas.microsoft.com/office/drawing/2014/main" id="{695AFFB5-A580-6078-C8D5-C582B7F9B8EB}"/>
              </a:ext>
            </a:extLst>
          </p:cNvPr>
          <p:cNvSpPr txBox="1"/>
          <p:nvPr/>
        </p:nvSpPr>
        <p:spPr>
          <a:xfrm>
            <a:off x="1657350" y="2981325"/>
            <a:ext cx="7721986" cy="369332"/>
          </a:xfrm>
          <a:prstGeom prst="rect">
            <a:avLst/>
          </a:prstGeom>
          <a:noFill/>
        </p:spPr>
        <p:txBody>
          <a:bodyPr wrap="none" rtlCol="0">
            <a:spAutoFit/>
          </a:bodyPr>
          <a:lstStyle/>
          <a:p>
            <a:r>
              <a:rPr lang="en-IN" dirty="0"/>
              <a:t>https://github.com/Hema1806/IBM_Medical_Symptom_Checker.git</a:t>
            </a:r>
          </a:p>
        </p:txBody>
      </p:sp>
      <p:sp>
        <p:nvSpPr>
          <p:cNvPr id="7" name="TextBox 6">
            <a:extLst>
              <a:ext uri="{FF2B5EF4-FFF2-40B4-BE49-F238E27FC236}">
                <a16:creationId xmlns:a16="http://schemas.microsoft.com/office/drawing/2014/main" id="{692D60DD-B5B2-45B3-DE79-23DB63EF97C2}"/>
              </a:ext>
            </a:extLst>
          </p:cNvPr>
          <p:cNvSpPr txBox="1"/>
          <p:nvPr/>
        </p:nvSpPr>
        <p:spPr>
          <a:xfrm>
            <a:off x="1552575" y="4000500"/>
            <a:ext cx="4067175" cy="738664"/>
          </a:xfrm>
          <a:prstGeom prst="rect">
            <a:avLst/>
          </a:prstGeom>
          <a:noFill/>
        </p:spPr>
        <p:txBody>
          <a:bodyPr wrap="square" rtlCol="0">
            <a:spAutoFit/>
          </a:bodyPr>
          <a:lstStyle/>
          <a:p>
            <a:r>
              <a:rPr lang="en-IN" sz="2400" dirty="0"/>
              <a:t>Repository Name:</a:t>
            </a:r>
          </a:p>
          <a:p>
            <a:r>
              <a:rPr lang="en-IN" dirty="0" err="1"/>
              <a:t>IBM_Medical_Symptom_Checker</a:t>
            </a:r>
            <a:endParaRPr lang="en-IN" dirty="0"/>
          </a:p>
        </p:txBody>
      </p:sp>
    </p:spTree>
    <p:extLst>
      <p:ext uri="{BB962C8B-B14F-4D97-AF65-F5344CB8AC3E}">
        <p14:creationId xmlns:p14="http://schemas.microsoft.com/office/powerpoint/2010/main" val="761044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1FEFEF-8B43-023B-AE4E-773914ECFB40}"/>
              </a:ext>
            </a:extLst>
          </p:cNvPr>
          <p:cNvPicPr>
            <a:picLocks noChangeAspect="1"/>
          </p:cNvPicPr>
          <p:nvPr/>
        </p:nvPicPr>
        <p:blipFill>
          <a:blip r:embed="rId2"/>
          <a:stretch>
            <a:fillRect/>
          </a:stretch>
        </p:blipFill>
        <p:spPr>
          <a:xfrm>
            <a:off x="2752613" y="873038"/>
            <a:ext cx="6174720" cy="4727661"/>
          </a:xfrm>
          <a:prstGeom prst="rect">
            <a:avLst/>
          </a:prstGeom>
        </p:spPr>
      </p:pic>
    </p:spTree>
    <p:extLst>
      <p:ext uri="{BB962C8B-B14F-4D97-AF65-F5344CB8AC3E}">
        <p14:creationId xmlns:p14="http://schemas.microsoft.com/office/powerpoint/2010/main" val="2070963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BA8A6D-5545-A6F7-240E-17D8C2668EFD}"/>
              </a:ext>
            </a:extLst>
          </p:cNvPr>
          <p:cNvPicPr>
            <a:picLocks noChangeAspect="1"/>
          </p:cNvPicPr>
          <p:nvPr/>
        </p:nvPicPr>
        <p:blipFill>
          <a:blip r:embed="rId2"/>
          <a:stretch>
            <a:fillRect/>
          </a:stretch>
        </p:blipFill>
        <p:spPr>
          <a:xfrm>
            <a:off x="2885910" y="939672"/>
            <a:ext cx="6420180" cy="4978656"/>
          </a:xfrm>
          <a:prstGeom prst="rect">
            <a:avLst/>
          </a:prstGeom>
        </p:spPr>
      </p:pic>
    </p:spTree>
    <p:extLst>
      <p:ext uri="{BB962C8B-B14F-4D97-AF65-F5344CB8AC3E}">
        <p14:creationId xmlns:p14="http://schemas.microsoft.com/office/powerpoint/2010/main" val="2822344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DBC646-20AE-B1A9-26DC-4F87CE667F02}"/>
              </a:ext>
            </a:extLst>
          </p:cNvPr>
          <p:cNvPicPr>
            <a:picLocks noChangeAspect="1"/>
          </p:cNvPicPr>
          <p:nvPr/>
        </p:nvPicPr>
        <p:blipFill>
          <a:blip r:embed="rId2"/>
          <a:stretch>
            <a:fillRect/>
          </a:stretch>
        </p:blipFill>
        <p:spPr>
          <a:xfrm>
            <a:off x="2543175" y="1000780"/>
            <a:ext cx="6508887" cy="5066752"/>
          </a:xfrm>
          <a:prstGeom prst="rect">
            <a:avLst/>
          </a:prstGeom>
        </p:spPr>
      </p:pic>
    </p:spTree>
    <p:extLst>
      <p:ext uri="{BB962C8B-B14F-4D97-AF65-F5344CB8AC3E}">
        <p14:creationId xmlns:p14="http://schemas.microsoft.com/office/powerpoint/2010/main" val="218301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EC520F-A226-53F9-06A0-956F2C890435}"/>
              </a:ext>
            </a:extLst>
          </p:cNvPr>
          <p:cNvPicPr>
            <a:picLocks noChangeAspect="1"/>
          </p:cNvPicPr>
          <p:nvPr/>
        </p:nvPicPr>
        <p:blipFill>
          <a:blip r:embed="rId2"/>
          <a:stretch>
            <a:fillRect/>
          </a:stretch>
        </p:blipFill>
        <p:spPr>
          <a:xfrm>
            <a:off x="2524125" y="1122698"/>
            <a:ext cx="7356635" cy="5176615"/>
          </a:xfrm>
          <a:prstGeom prst="rect">
            <a:avLst/>
          </a:prstGeom>
        </p:spPr>
      </p:pic>
    </p:spTree>
    <p:extLst>
      <p:ext uri="{BB962C8B-B14F-4D97-AF65-F5344CB8AC3E}">
        <p14:creationId xmlns:p14="http://schemas.microsoft.com/office/powerpoint/2010/main" val="71031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98FE0-630E-8F8B-72ED-D7D09CA97BB6}"/>
              </a:ext>
            </a:extLst>
          </p:cNvPr>
          <p:cNvSpPr>
            <a:spLocks noGrp="1"/>
          </p:cNvSpPr>
          <p:nvPr>
            <p:ph type="title"/>
          </p:nvPr>
        </p:nvSpPr>
        <p:spPr>
          <a:xfrm>
            <a:off x="4097385" y="838200"/>
            <a:ext cx="2940796" cy="706964"/>
          </a:xfrm>
        </p:spPr>
        <p:txBody>
          <a:bodyPr/>
          <a:lstStyle/>
          <a:p>
            <a:r>
              <a:rPr lang="en-IN" dirty="0"/>
              <a:t>Conclusion</a:t>
            </a:r>
          </a:p>
        </p:txBody>
      </p:sp>
      <p:sp>
        <p:nvSpPr>
          <p:cNvPr id="3" name="Content Placeholder 2">
            <a:extLst>
              <a:ext uri="{FF2B5EF4-FFF2-40B4-BE49-F238E27FC236}">
                <a16:creationId xmlns:a16="http://schemas.microsoft.com/office/drawing/2014/main" id="{15B13317-87F7-83D7-04B2-1CFD852F7CBC}"/>
              </a:ext>
            </a:extLst>
          </p:cNvPr>
          <p:cNvSpPr>
            <a:spLocks noGrp="1"/>
          </p:cNvSpPr>
          <p:nvPr>
            <p:ph idx="1"/>
          </p:nvPr>
        </p:nvSpPr>
        <p:spPr>
          <a:xfrm>
            <a:off x="1755029" y="2832100"/>
            <a:ext cx="8825659" cy="3416300"/>
          </a:xfrm>
        </p:spPr>
        <p:txBody>
          <a:bodyPr/>
          <a:lstStyle/>
          <a:p>
            <a:r>
              <a:rPr lang="en-IN" dirty="0"/>
              <a:t>The Medical Symptom Checker demonstrates how IBM </a:t>
            </a:r>
            <a:r>
              <a:rPr lang="en-IN" dirty="0" err="1"/>
              <a:t>watsonx</a:t>
            </a:r>
            <a:r>
              <a:rPr lang="en-IN" dirty="0"/>
              <a:t> Orchestrate can be used to build intelligent healthcare assistants that provide reliable symptom guidance, first aid recommendations, and preventive healthcare information. The project highlights the potential of conversational AI to improve healthcare awareness while promoting safe and responsible use of medical information.</a:t>
            </a:r>
          </a:p>
        </p:txBody>
      </p:sp>
    </p:spTree>
    <p:extLst>
      <p:ext uri="{BB962C8B-B14F-4D97-AF65-F5344CB8AC3E}">
        <p14:creationId xmlns:p14="http://schemas.microsoft.com/office/powerpoint/2010/main" val="66390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862134-F327-C579-BF9C-9F5134DC5044}"/>
              </a:ext>
            </a:extLst>
          </p:cNvPr>
          <p:cNvSpPr txBox="1"/>
          <p:nvPr/>
        </p:nvSpPr>
        <p:spPr>
          <a:xfrm>
            <a:off x="4086225" y="2200275"/>
            <a:ext cx="4019550" cy="1415772"/>
          </a:xfrm>
          <a:prstGeom prst="rect">
            <a:avLst/>
          </a:prstGeom>
          <a:noFill/>
        </p:spPr>
        <p:txBody>
          <a:bodyPr wrap="square" rtlCol="0">
            <a:spAutoFit/>
          </a:bodyPr>
          <a:lstStyle/>
          <a:p>
            <a:r>
              <a:rPr lang="en-IN" sz="5000" b="1" dirty="0"/>
              <a:t>Thank You</a:t>
            </a:r>
            <a:endParaRPr lang="en-IN" sz="5000" dirty="0"/>
          </a:p>
          <a:p>
            <a:r>
              <a:rPr lang="en-IN" b="1" dirty="0"/>
              <a:t>Questions &amp; Answers</a:t>
            </a:r>
            <a:endParaRPr lang="en-IN" dirty="0"/>
          </a:p>
          <a:p>
            <a:endParaRPr lang="en-IN" dirty="0"/>
          </a:p>
        </p:txBody>
      </p:sp>
    </p:spTree>
    <p:extLst>
      <p:ext uri="{BB962C8B-B14F-4D97-AF65-F5344CB8AC3E}">
        <p14:creationId xmlns:p14="http://schemas.microsoft.com/office/powerpoint/2010/main" val="3303469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{3D485F7A-863F-4837-B6D7-350D591769C6}TF229edf6a-8a49-49ee-a0a6-5037052947485fb3ca0c-bc27bf41d645</Template>
  <TotalTime>111</TotalTime>
  <Words>409</Words>
  <Application>Microsoft Office PowerPoint</Application>
  <PresentationFormat>Widescreen</PresentationFormat>
  <Paragraphs>69</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Century Gothic</vt:lpstr>
      <vt:lpstr>Wingdings 3</vt:lpstr>
      <vt:lpstr>Ion Boardroom</vt:lpstr>
      <vt:lpstr>AI-Powered Medical Symptom Checker &amp; First Aid Assistant using IBM watsonx Orchestrate  IBM SkillsBuild – University Engagement Program </vt:lpstr>
      <vt:lpstr>Introduction</vt:lpstr>
      <vt:lpstr>Problem Statement</vt:lpstr>
      <vt:lpstr>Objectives</vt:lpstr>
      <vt:lpstr>Proposed Solution</vt:lpstr>
      <vt:lpstr>Technologies Used</vt:lpstr>
      <vt:lpstr>System Architecture</vt:lpstr>
      <vt:lpstr>Workflow</vt:lpstr>
      <vt:lpstr>Knowledge Base</vt:lpstr>
      <vt:lpstr>Agent Configuration</vt:lpstr>
      <vt:lpstr>Testing</vt:lpstr>
      <vt:lpstr>Results</vt:lpstr>
      <vt:lpstr>Novelty</vt:lpstr>
      <vt:lpstr>Future Scope </vt:lpstr>
      <vt:lpstr>GitHub Repository</vt:lpstr>
      <vt:lpstr>PowerPoint Presentation</vt:lpstr>
      <vt:lpstr>PowerPoint Presentation</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hema sri</dc:creator>
  <cp:lastModifiedBy>hema sri</cp:lastModifiedBy>
  <cp:revision>2</cp:revision>
  <dcterms:created xsi:type="dcterms:W3CDTF">2026-07-13T15:41:09Z</dcterms:created>
  <dcterms:modified xsi:type="dcterms:W3CDTF">2026-07-13T18:41:15Z</dcterms:modified>
</cp:coreProperties>
</file>